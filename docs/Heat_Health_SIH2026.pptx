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52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2146d0997150fb8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h22146d0997150fb8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1551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4024996/" TargetMode="External"/><Relationship Id="rId13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journals.plos.org/plosone/article?id=10.1371/journal.pone.0091831" TargetMode="External"/><Relationship Id="rId12" Type="http://schemas.openxmlformats.org/officeDocument/2006/relationships/hyperlink" Target="https://pubmed.ncbi.nlm.nih.gov/32435111/" TargetMode="External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hyperlink" Target="https://ehp.niehs.nih.gov/doi/full/10.1289/EHP13206" TargetMode="External"/><Relationship Id="rId5" Type="http://schemas.openxmlformats.org/officeDocument/2006/relationships/image" Target="../media/image28.png"/><Relationship Id="rId15" Type="http://schemas.openxmlformats.org/officeDocument/2006/relationships/hyperlink" Target="https://www.ccohs.ca/oshanswers/phys_agents/heat/heat_control.html" TargetMode="External"/><Relationship Id="rId10" Type="http://schemas.openxmlformats.org/officeDocument/2006/relationships/hyperlink" Target="https://ehp.niehs.nih.gov/doi/full/10.1289/EHP5430" TargetMode="External"/><Relationship Id="rId4" Type="http://schemas.openxmlformats.org/officeDocument/2006/relationships/hyperlink" Target="https://github.com/janhavitupe/Heat-Health-Warning-SIH" TargetMode="External"/><Relationship Id="rId9" Type="http://schemas.openxmlformats.org/officeDocument/2006/relationships/hyperlink" Target="https://pubmed.ncbi.nlm.nih.gov/21084239/" TargetMode="External"/><Relationship Id="rId14" Type="http://schemas.openxmlformats.org/officeDocument/2006/relationships/hyperlink" Target="https://open-meteo.com/en/docs/ensemble-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656780" y="851522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 amt="85000"/>
          </a:blip>
          <a:srcRect r="59916"/>
          <a:stretch/>
        </p:blipFill>
        <p:spPr>
          <a:xfrm>
            <a:off x="8512455" y="189299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>
            <a:spLocks noGrp="1"/>
          </p:cNvSpPr>
          <p:nvPr>
            <p:ph type="ctrTitle"/>
          </p:nvPr>
        </p:nvSpPr>
        <p:spPr>
          <a:xfrm>
            <a:off x="331285" y="-513256"/>
            <a:ext cx="10363200" cy="207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4">
            <a:alphaModFix amt="85000"/>
          </a:blip>
          <a:srcRect/>
          <a:stretch/>
        </p:blipFill>
        <p:spPr>
          <a:xfrm>
            <a:off x="10461328" y="98089"/>
            <a:ext cx="1595643" cy="753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587883" y="1372582"/>
            <a:ext cx="8333613" cy="4523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Problem Statement ID - </a:t>
            </a:r>
            <a:r>
              <a:rPr lang="en-IN" sz="2400" b="1" cap="all" dirty="0"/>
              <a:t>SIH26083</a:t>
            </a:r>
          </a:p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Problem Statement Title -</a:t>
            </a:r>
            <a:r>
              <a:rPr lang="en-IN" sz="2400" b="1" dirty="0"/>
              <a:t>Extreme Heatwave Early Warning and Human Thermal Stress Index</a:t>
            </a:r>
          </a:p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endParaRPr sz="24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Theme - </a:t>
            </a:r>
            <a:r>
              <a:rPr lang="en-IN" sz="2400" b="1" cap="all" dirty="0"/>
              <a:t>Disaster Management</a:t>
            </a:r>
          </a:p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PS Category - Software</a:t>
            </a:r>
            <a:endParaRPr sz="24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Team ID - 169785</a:t>
            </a:r>
            <a:endParaRPr sz="24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338658" indent="-338658" algn="just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Team Name (</a:t>
            </a:r>
            <a:r>
              <a:rPr lang="en" sz="24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Registered on portal) - </a:t>
            </a:r>
            <a:r>
              <a:rPr lang="e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Exclusive6</a:t>
            </a:r>
            <a:endParaRPr sz="24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4;p26" descr="Your startup LOGO">
            <a:extLst>
              <a:ext uri="{FF2B5EF4-FFF2-40B4-BE49-F238E27FC236}">
                <a16:creationId xmlns:a16="http://schemas.microsoft.com/office/drawing/2014/main" id="{5499B146-92E6-8681-D7B5-5F65CC512E1B}"/>
              </a:ext>
            </a:extLst>
          </p:cNvPr>
          <p:cNvSpPr/>
          <p:nvPr/>
        </p:nvSpPr>
        <p:spPr>
          <a:xfrm>
            <a:off x="161514" y="294084"/>
            <a:ext cx="1051084" cy="4110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48245" y="154009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→ ward heat exposure → body heat stress → who is exposed → health risk → approved warning → 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01368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911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2331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Sense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60604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122-run weather ensemble, satellite heat maps, census &amp; slum data, street network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2468880"/>
            <a:ext cx="13716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67128" y="16916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76856" y="1801368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191109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76856" y="2331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Score &amp; explain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276856" y="260604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UTCI, WBGT, Heat Index + hot nights, sheet roofs → heat stress × vulnerability → ward risk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21608" y="2468880"/>
            <a:ext cx="13716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77056" y="16916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86784" y="1801368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191109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986784" y="2331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Decide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3986784" y="260604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Action Plan actions, safe work hours, cooling deserts, resource allocation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31536" y="2468880"/>
            <a:ext cx="13716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586984" y="16916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696712" y="1801368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91109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96712" y="2331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Alert &amp; learn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696712" y="260604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Officer-approved SMS / WhatsApp / voice + CAP; health-worker reports; what-if planning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systems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69080"/>
          <a:ext cx="6720840" cy="227380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warnings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Heat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Ward-level risk (48 wards)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+ sun + wind (UTCI, WBGT)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exposed (vulnerability)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of alert, 1–5 days ahead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actions per 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local-language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4892040" y="3767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◐ partly   — no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749808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different?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7498080" y="1691640"/>
            <a:ext cx="203911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589520" y="1801368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1692" y="1893540"/>
            <a:ext cx="199705" cy="199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04672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explained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8046720" y="20574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shows the points each factor adds and its data source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9646920" y="1691640"/>
            <a:ext cx="203911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9738360" y="1801368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0532" y="1893540"/>
            <a:ext cx="199705" cy="199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19556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warning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10195560" y="20574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“67% chance of Red” from 3 forecast models, days before the heat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7498080" y="2651760"/>
            <a:ext cx="203911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7589520" y="2761488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1692" y="2853660"/>
            <a:ext cx="199705" cy="19970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04672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control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8046720" y="30175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without a named officer; full audit trail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9646920" y="2651760"/>
            <a:ext cx="203911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9738360" y="2761488"/>
            <a:ext cx="384048" cy="38404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0532" y="2853660"/>
            <a:ext cx="199705" cy="199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019556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10195560" y="30175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Health-worker reports flag misses; what-if tests trees, cool roofs, centres</a:t>
            </a:r>
            <a:endParaRPr lang="en-US" sz="850" dirty="0"/>
          </a:p>
        </p:txBody>
      </p:sp>
      <p:sp>
        <p:nvSpPr>
          <p:cNvPr id="53" name="Text 42"/>
          <p:cNvSpPr txBox="1"/>
          <p:nvPr/>
        </p:nvSpPr>
        <p:spPr>
          <a:xfrm>
            <a:off x="749808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pic>
        <p:nvPicPr>
          <p:cNvPr id="54" name="Image 8" descr="proto_cr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0" y="4069080"/>
            <a:ext cx="4206240" cy="228600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5" name="Text 43"/>
          <p:cNvSpPr txBox="1"/>
          <p:nvPr/>
        </p:nvSpPr>
        <p:spPr>
          <a:xfrm>
            <a:off x="749808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detail: Baherampura's risk explained factor by factor</a:t>
            </a:r>
            <a:endParaRPr lang="en-US" sz="950" dirty="0"/>
          </a:p>
        </p:txBody>
      </p:sp>
      <p:pic>
        <p:nvPicPr>
          <p:cNvPr id="59" name="Google Shape;133;p25">
            <a:extLst>
              <a:ext uri="{FF2B5EF4-FFF2-40B4-BE49-F238E27FC236}">
                <a16:creationId xmlns:a16="http://schemas.microsoft.com/office/drawing/2014/main" id="{0D0BC827-1572-1E5E-86C2-3706C4BB1334}"/>
              </a:ext>
            </a:extLst>
          </p:cNvPr>
          <p:cNvPicPr preferRelativeResize="0"/>
          <p:nvPr/>
        </p:nvPicPr>
        <p:blipFill rotWithShape="1">
          <a:blip r:embed="rId12">
            <a:alphaModFix amt="85000"/>
          </a:blip>
          <a:srcRect/>
          <a:stretch/>
        </p:blipFill>
        <p:spPr>
          <a:xfrm>
            <a:off x="10264351" y="136669"/>
            <a:ext cx="1595643" cy="75343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144;p26" descr="Your startup LOGO">
            <a:extLst>
              <a:ext uri="{FF2B5EF4-FFF2-40B4-BE49-F238E27FC236}">
                <a16:creationId xmlns:a16="http://schemas.microsoft.com/office/drawing/2014/main" id="{57FB430F-448E-0CED-480F-66939AB2A0F9}"/>
              </a:ext>
            </a:extLst>
          </p:cNvPr>
          <p:cNvSpPr/>
          <p:nvPr/>
        </p:nvSpPr>
        <p:spPr>
          <a:xfrm>
            <a:off x="269986" y="205978"/>
            <a:ext cx="1051084" cy="4110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Exclusive6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67328" y="12620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007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officers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95681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alerts, plan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645920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7007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dept &amp; hospitals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95681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 risk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77056" y="1645920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50208" y="17007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&amp; workers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195681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WhatsApp · voice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41264" y="1645920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14416" y="170078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/ health workers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195681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cases (counts)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2286000"/>
            <a:ext cx="201168" cy="18288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1460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256946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(React + MapLibre)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2825496"/>
            <a:ext cx="31455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map · 8 layers · explanations · plan · alerts · what-if · reports · method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251460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05072" y="256946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005072" y="2825496"/>
            <a:ext cx="31455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→ SMS / WhatsApp / IVR voice (Twilio) · CAP 1.2 XML · WhatsApp ward bot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520440"/>
            <a:ext cx="201168" cy="18288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676656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" y="3803904"/>
            <a:ext cx="6620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(FastAPI + SQLite + APScheduler)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30352" y="4059936"/>
            <a:ext cx="6620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forecast refresh · replay of past heatwaves · audit log · role token for write actions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4480560"/>
            <a:ext cx="201168" cy="18288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709160"/>
            <a:ext cx="676656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(Python)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010912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506577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downscaling (night heat island)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03120" y="5193792"/>
            <a:ext cx="109728" cy="164592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12848" y="5010912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286000" y="506577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UTCI · WBGT · Heat Index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767328" y="5193792"/>
            <a:ext cx="109728" cy="164592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77056" y="5010912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50208" y="506577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 + vulnerability → risk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31536" y="5193792"/>
            <a:ext cx="109728" cy="164592"/>
          </a:xfrm>
          <a:prstGeom prst="rightArrow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41264" y="5010912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14416" y="506577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work hours · cooling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749040" y="5669280"/>
            <a:ext cx="201168" cy="182880"/>
          </a:xfrm>
          <a:prstGeom prst="up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897880"/>
            <a:ext cx="676656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943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172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(ECMWF · GFS · ICON, 122 ensemble runs) · Google Earth Engine (Landsat, MODIS, Sentinel-2) · WorldPop · Census 2011 · AMC slum survey · OpenStreetMap street network · IMD airport station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589520" y="1005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features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0" y="137160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Body-heat indices: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UTCI and WBGT (Liljegren) with sun and wind, not temperature alone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 the city: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anchored to Ahmedabad Heat Action Plan thresholds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downscaling: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night heat island adds up to ~1 °C per ward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alerts: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model run on 122 forecast members, 5 days ahead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points per factor, each labelled live / census / estimate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Street-network access: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walk to cooling places and health care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alerts: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hi / gu, SMS length checks, CAP 1.2, audit 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automated tests; May 2024 heatwave replay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58952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89520" y="50292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662672" y="5157216"/>
            <a:ext cx="457200" cy="457200"/>
          </a:xfrm>
          <a:prstGeom prst="ellipse">
            <a:avLst/>
          </a:prstGeom>
          <a:solidFill>
            <a:srgbClr val="2A1410"/>
          </a:solidFill>
          <a:ln w="12700">
            <a:solidFill>
              <a:srgbClr val="2A1410"/>
            </a:solidFill>
            <a:prstDash val="solid"/>
          </a:ln>
        </p:spPr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266944"/>
            <a:ext cx="237744" cy="237744"/>
          </a:xfrm>
          <a:prstGeom prst="rect">
            <a:avLst/>
          </a:prstGeom>
        </p:spPr>
      </p:pic>
      <p:sp>
        <p:nvSpPr>
          <p:cNvPr id="54" name="Text 51"/>
          <p:cNvSpPr txBox="1"/>
          <p:nvPr/>
        </p:nvSpPr>
        <p:spPr>
          <a:xfrm>
            <a:off x="8193024" y="5102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8193024" y="5358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MapLibre · Recharts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9692640" y="50292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9765792" y="5157216"/>
            <a:ext cx="457200" cy="457200"/>
          </a:xfrm>
          <a:prstGeom prst="ellipse">
            <a:avLst/>
          </a:prstGeom>
          <a:solidFill>
            <a:srgbClr val="2A1410"/>
          </a:solidFill>
          <a:ln w="12700">
            <a:solidFill>
              <a:srgbClr val="2A1410"/>
            </a:solidFill>
            <a:prstDash val="solid"/>
          </a:ln>
        </p:spPr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5266944"/>
            <a:ext cx="237744" cy="237744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10296144" y="5102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60" name="Text 56"/>
          <p:cNvSpPr txBox="1"/>
          <p:nvPr/>
        </p:nvSpPr>
        <p:spPr>
          <a:xfrm>
            <a:off x="10296144" y="53583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SQLite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7589520" y="5833872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7662672" y="5961888"/>
            <a:ext cx="457200" cy="457200"/>
          </a:xfrm>
          <a:prstGeom prst="ellipse">
            <a:avLst/>
          </a:prstGeom>
          <a:solidFill>
            <a:srgbClr val="2A1410"/>
          </a:solidFill>
          <a:ln w="12700">
            <a:solidFill>
              <a:srgbClr val="2A1410"/>
            </a:solidFill>
            <a:prstDash val="solid"/>
          </a:ln>
        </p:spPr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6071616"/>
            <a:ext cx="237744" cy="237744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8193024" y="5907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GIS</a:t>
            </a:r>
            <a:endParaRPr lang="en-US" sz="1100" dirty="0"/>
          </a:p>
        </p:txBody>
      </p:sp>
      <p:sp>
        <p:nvSpPr>
          <p:cNvPr id="65" name="Text 60"/>
          <p:cNvSpPr txBox="1"/>
          <p:nvPr/>
        </p:nvSpPr>
        <p:spPr>
          <a:xfrm>
            <a:off x="8193024" y="6163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Engine · GeoPandas · OSMnx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9692640" y="5833872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2"/>
          <p:cNvSpPr/>
          <p:nvPr/>
        </p:nvSpPr>
        <p:spPr>
          <a:xfrm>
            <a:off x="9765792" y="5961888"/>
            <a:ext cx="457200" cy="457200"/>
          </a:xfrm>
          <a:prstGeom prst="ellipse">
            <a:avLst/>
          </a:prstGeom>
          <a:solidFill>
            <a:srgbClr val="2A1410"/>
          </a:solidFill>
          <a:ln w="12700">
            <a:solidFill>
              <a:srgbClr val="2A1410"/>
            </a:solidFill>
            <a:prstDash val="solid"/>
          </a:ln>
        </p:spPr>
      </p:sp>
      <p:pic>
        <p:nvPicPr>
          <p:cNvPr id="6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6071616"/>
            <a:ext cx="237744" cy="237744"/>
          </a:xfrm>
          <a:prstGeom prst="rect">
            <a:avLst/>
          </a:prstGeom>
        </p:spPr>
      </p:pic>
      <p:sp>
        <p:nvSpPr>
          <p:cNvPr id="69" name="Text 63"/>
          <p:cNvSpPr txBox="1"/>
          <p:nvPr/>
        </p:nvSpPr>
        <p:spPr>
          <a:xfrm>
            <a:off x="10296144" y="5907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70" name="Text 64"/>
          <p:cNvSpPr txBox="1"/>
          <p:nvPr/>
        </p:nvSpPr>
        <p:spPr>
          <a:xfrm>
            <a:off x="10296144" y="6163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· CAP 1.2 · TwiML</a:t>
            </a:r>
            <a:endParaRPr lang="en-US" sz="900" dirty="0"/>
          </a:p>
        </p:txBody>
      </p:sp>
      <p:pic>
        <p:nvPicPr>
          <p:cNvPr id="72" name="Google Shape;133;p25">
            <a:extLst>
              <a:ext uri="{FF2B5EF4-FFF2-40B4-BE49-F238E27FC236}">
                <a16:creationId xmlns:a16="http://schemas.microsoft.com/office/drawing/2014/main" id="{403FE859-B020-0434-E369-94221BED705F}"/>
              </a:ext>
            </a:extLst>
          </p:cNvPr>
          <p:cNvPicPr preferRelativeResize="0"/>
          <p:nvPr/>
        </p:nvPicPr>
        <p:blipFill rotWithShape="1">
          <a:blip r:embed="rId7">
            <a:alphaModFix amt="85000"/>
          </a:blip>
          <a:srcRect/>
          <a:stretch/>
        </p:blipFill>
        <p:spPr>
          <a:xfrm>
            <a:off x="10296144" y="144492"/>
            <a:ext cx="1595643" cy="75343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144;p26" descr="Your startup LOGO">
            <a:extLst>
              <a:ext uri="{FF2B5EF4-FFF2-40B4-BE49-F238E27FC236}">
                <a16:creationId xmlns:a16="http://schemas.microsoft.com/office/drawing/2014/main" id="{36C863A8-73A2-BE5F-DC9C-C0602D2E8D33}"/>
              </a:ext>
            </a:extLst>
          </p:cNvPr>
          <p:cNvSpPr/>
          <p:nvPr/>
        </p:nvSpPr>
        <p:spPr>
          <a:xfrm>
            <a:off x="283940" y="207081"/>
            <a:ext cx="1051084" cy="4110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73624" y="1371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914400" cy="9144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7282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1645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it? It is built.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19385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on open data · 163 automated tests · full May 2024 replay · 5-day ward forecast in ~4 minutes · what-if in ~1 second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291840"/>
            <a:ext cx="914400" cy="9144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51129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viability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city run it?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783080" y="37216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existing Ahmedabad Heat Action Plan · named-officer approval and audit log · alerts in English, Hindi, Gujarati · delivery simulated until a sender is registered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475488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5074920"/>
            <a:ext cx="914400" cy="9144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2943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potential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212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scale?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783080" y="55046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for any Indian city: ward boundaries + IMD / HAP thresholds + public data · one small server · main running cost is SMS / voice per message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if…? and how we respond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492240" y="1645920"/>
            <a:ext cx="5257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182880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60196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forecast is uncertain?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269480" y="20299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forecast runs give a probability and a confidence level, not one guess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492240" y="2633472"/>
            <a:ext cx="5257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601968" y="2816352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601968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7269480" y="2724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 ward has no data for some factor?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726948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held at the city midpoint and the explanation says so; nothing is invented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492240" y="3621024"/>
            <a:ext cx="5257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601968" y="3803904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601968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36" name="Text 31"/>
          <p:cNvSpPr txBox="1"/>
          <p:nvPr/>
        </p:nvSpPr>
        <p:spPr>
          <a:xfrm>
            <a:off x="7269480" y="3712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an alarming alert is wrong?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7269480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officer reviews, edits or rejects every draft; every action is logged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492240" y="4608576"/>
            <a:ext cx="5257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601968" y="4791456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601968" y="4791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41" name="Text 36"/>
          <p:cNvSpPr txBox="1"/>
          <p:nvPr/>
        </p:nvSpPr>
        <p:spPr>
          <a:xfrm>
            <a:off x="7269480" y="47000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model under-rates a ward?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7269480" y="49926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Health-worker case reports flag it (e.g. Vatva: 6 cases vs 0.2 expected)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492240" y="5596128"/>
            <a:ext cx="5257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6601968" y="5779008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6601968" y="5779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46" name="Text 41"/>
          <p:cNvSpPr txBox="1"/>
          <p:nvPr/>
        </p:nvSpPr>
        <p:spPr>
          <a:xfrm>
            <a:off x="7269480" y="5687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residents have no smartphone?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7269480" y="59801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voice calls in Gujarati / Hindi, with a keypad menu for cooling places</a:t>
            </a:r>
            <a:endParaRPr lang="en-US" sz="1050" dirty="0"/>
          </a:p>
        </p:txBody>
      </p:sp>
      <p:pic>
        <p:nvPicPr>
          <p:cNvPr id="49" name="Google Shape;133;p25">
            <a:extLst>
              <a:ext uri="{FF2B5EF4-FFF2-40B4-BE49-F238E27FC236}">
                <a16:creationId xmlns:a16="http://schemas.microsoft.com/office/drawing/2014/main" id="{B1695F48-1523-87D8-A702-5B4C7FF1D8FB}"/>
              </a:ext>
            </a:extLst>
          </p:cNvPr>
          <p:cNvPicPr preferRelativeResize="0"/>
          <p:nvPr/>
        </p:nvPicPr>
        <p:blipFill rotWithShape="1">
          <a:blip r:embed="rId6">
            <a:alphaModFix amt="85000"/>
          </a:blip>
          <a:srcRect/>
          <a:stretch/>
        </p:blipFill>
        <p:spPr>
          <a:xfrm>
            <a:off x="10461328" y="98089"/>
            <a:ext cx="1595643" cy="75343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144;p26" descr="Your startup LOGO">
            <a:extLst>
              <a:ext uri="{FF2B5EF4-FFF2-40B4-BE49-F238E27FC236}">
                <a16:creationId xmlns:a16="http://schemas.microsoft.com/office/drawing/2014/main" id="{74399EE1-92C5-BD11-460A-039CC2111A07}"/>
              </a:ext>
            </a:extLst>
          </p:cNvPr>
          <p:cNvSpPr/>
          <p:nvPr/>
        </p:nvSpPr>
        <p:spPr>
          <a:xfrm>
            <a:off x="322382" y="228838"/>
            <a:ext cx="1051084" cy="4110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7772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2263140" y="691501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of the May 2024 Ahmedabad heatwave, scored as the system would have run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A1410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days caught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(Heat Action Plan Orange/Red), none missed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A1410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417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 IMD's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alert (20–24 May)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A1410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417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 / 344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ward-days flagged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ahead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0" y="13258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2A1410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52560" y="1417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days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Red avoided in Baherampura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(trees + cool roofs what-if)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39" y="3570915"/>
            <a:ext cx="228234" cy="22823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24128" y="3429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protected earlier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24128" y="3685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days before the heat, ward by ward, with the peak hour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39" y="4174419"/>
            <a:ext cx="228234" cy="22823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24128" y="4032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where it is needed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1024128" y="4288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units, ambulances and staff sent to the highest-risk wards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57200" y="4672584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39" y="4777923"/>
            <a:ext cx="228234" cy="22823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24128" y="4636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workers protected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1024128" y="4892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work hours by workload, stricter for workers new to the heat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7200" y="5276088"/>
            <a:ext cx="438912" cy="43891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539" y="5381427"/>
            <a:ext cx="228234" cy="22823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24128" y="5239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long-term planning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1024128" y="54955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trees, cool roofs and new cooling centres before funding them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6263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6263640" y="3465576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979" y="3570915"/>
            <a:ext cx="228234" cy="22823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830568" y="3429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</a:t>
            </a:r>
            <a:endParaRPr lang="en-US" sz="1250" dirty="0"/>
          </a:p>
        </p:txBody>
      </p:sp>
      <p:sp>
        <p:nvSpPr>
          <p:cNvPr id="38" name="Text 31"/>
          <p:cNvSpPr txBox="1"/>
          <p:nvPr/>
        </p:nvSpPr>
        <p:spPr>
          <a:xfrm>
            <a:off x="6830568" y="3685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screen: priorities, day plan, approved alerts, report card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263640" y="4069080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979" y="4174419"/>
            <a:ext cx="228234" cy="22823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830568" y="4032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6830568" y="4288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Hospitalization-risk view; early flags from ASHA case reports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6263640" y="4672584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979" y="4777923"/>
            <a:ext cx="228234" cy="22823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830568" y="4636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250" dirty="0"/>
          </a:p>
        </p:txBody>
      </p:sp>
      <p:sp>
        <p:nvSpPr>
          <p:cNvPr id="46" name="Text 37"/>
          <p:cNvSpPr txBox="1"/>
          <p:nvPr/>
        </p:nvSpPr>
        <p:spPr>
          <a:xfrm>
            <a:off x="6830568" y="4892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in their language, with the nearest cooling places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6263640" y="5276088"/>
            <a:ext cx="438912" cy="43891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8979" y="5381427"/>
            <a:ext cx="228234" cy="22823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6830568" y="5239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50" name="Text 40"/>
          <p:cNvSpPr txBox="1"/>
          <p:nvPr/>
        </p:nvSpPr>
        <p:spPr>
          <a:xfrm>
            <a:off x="6830568" y="54955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log, post-event report card, limitations shown in-app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457200" y="5989320"/>
            <a:ext cx="3611880" cy="658368"/>
          </a:xfrm>
          <a:prstGeom prst="roundRect">
            <a:avLst>
              <a:gd name="adj" fmla="val 41667"/>
            </a:avLst>
          </a:prstGeom>
          <a:solidFill>
            <a:srgbClr val="FDEE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594360" y="6035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050" dirty="0"/>
          </a:p>
        </p:txBody>
      </p:sp>
      <p:sp>
        <p:nvSpPr>
          <p:cNvPr id="53" name="Text 43"/>
          <p:cNvSpPr txBox="1"/>
          <p:nvPr/>
        </p:nvSpPr>
        <p:spPr>
          <a:xfrm>
            <a:off x="594360" y="62819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wards first · local languages · no-smartphone reach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4251960" y="5989320"/>
            <a:ext cx="3611880" cy="658368"/>
          </a:xfrm>
          <a:prstGeom prst="roundRect">
            <a:avLst>
              <a:gd name="adj" fmla="val 41667"/>
            </a:avLst>
          </a:prstGeom>
          <a:solidFill>
            <a:srgbClr val="FDEE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4389120" y="6035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IMPACT</a:t>
            </a:r>
            <a:endParaRPr lang="en-US" sz="1050" dirty="0"/>
          </a:p>
        </p:txBody>
      </p:sp>
      <p:sp>
        <p:nvSpPr>
          <p:cNvPr id="56" name="Text 46"/>
          <p:cNvSpPr txBox="1"/>
          <p:nvPr/>
        </p:nvSpPr>
        <p:spPr>
          <a:xfrm>
            <a:off x="4389120" y="62819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· audit trail · evidence-based Heat Action Plan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8046720" y="5989320"/>
            <a:ext cx="3611880" cy="658368"/>
          </a:xfrm>
          <a:prstGeom prst="roundRect">
            <a:avLst>
              <a:gd name="adj" fmla="val 41667"/>
            </a:avLst>
          </a:prstGeom>
          <a:solidFill>
            <a:srgbClr val="FDEEE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8183880" y="60350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CLIMATE IMPACT</a:t>
            </a:r>
            <a:endParaRPr lang="en-US" sz="1050" dirty="0"/>
          </a:p>
        </p:txBody>
      </p:sp>
      <p:sp>
        <p:nvSpPr>
          <p:cNvPr id="59" name="Text 49"/>
          <p:cNvSpPr txBox="1"/>
          <p:nvPr/>
        </p:nvSpPr>
        <p:spPr>
          <a:xfrm>
            <a:off x="8183880" y="62819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heat deaths · cooler neighbourhoods · data for adaptation</a:t>
            </a:r>
            <a:endParaRPr lang="en-US" sz="950" dirty="0"/>
          </a:p>
        </p:txBody>
      </p:sp>
      <p:pic>
        <p:nvPicPr>
          <p:cNvPr id="61" name="Google Shape;133;p25">
            <a:extLst>
              <a:ext uri="{FF2B5EF4-FFF2-40B4-BE49-F238E27FC236}">
                <a16:creationId xmlns:a16="http://schemas.microsoft.com/office/drawing/2014/main" id="{176E6097-D8FB-F44E-6CE1-29D143948E47}"/>
              </a:ext>
            </a:extLst>
          </p:cNvPr>
          <p:cNvPicPr preferRelativeResize="0"/>
          <p:nvPr/>
        </p:nvPicPr>
        <p:blipFill rotWithShape="1">
          <a:blip r:embed="rId11">
            <a:alphaModFix amt="85000"/>
          </a:blip>
          <a:srcRect/>
          <a:stretch/>
        </p:blipFill>
        <p:spPr>
          <a:xfrm>
            <a:off x="10461328" y="98089"/>
            <a:ext cx="1595643" cy="75343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144;p26" descr="Your startup LOGO">
            <a:extLst>
              <a:ext uri="{FF2B5EF4-FFF2-40B4-BE49-F238E27FC236}">
                <a16:creationId xmlns:a16="http://schemas.microsoft.com/office/drawing/2014/main" id="{D5C4E603-DAC8-A4B7-213D-0F3100A1BABD}"/>
              </a:ext>
            </a:extLst>
          </p:cNvPr>
          <p:cNvSpPr/>
          <p:nvPr/>
        </p:nvSpPr>
        <p:spPr>
          <a:xfrm>
            <a:off x="265231" y="210312"/>
            <a:ext cx="1051084" cy="4110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46120" y="162455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92965" y="274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DEEE4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3444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44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280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373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br>
              <a:rPr dirty="0"/>
            </a:br>
            <a:r>
              <a:rPr lang="en-US" sz="100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https://github.com/janhavitupe/Heat-Health-Warning-SIH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runs locally (FastAPI + React), May 2024 replay built 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video</a:t>
            </a:r>
            <a:r>
              <a:rPr lang="en-US" sz="115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http://youtube.com/watch?v=V4f20cV1iZI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342900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FEF3C7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" y="356616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75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toward the finals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06908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heat-illness counts and 60+ population from AMC Health Department, to validate ward rankings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SMS / WhatsApp through a DLT-registered sender (Twilio or a telecom gateway)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review of Hindi and Gujarati advisories; more languages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the 2010, 2016 and 2019 heatwaves for stronger false-alarm statistics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/ MoU with AMC Health Department to pilot in the 2027 heat season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63640" y="1097280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123444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344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1691640"/>
            <a:ext cx="5120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 et al. 2014: excess mortality in the 2010 Ahmedabad heatwave (PLOS ONE)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https://journals.plos.org/plosone/article?id=10.1371/journal.pone.0091831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Knowlton et al. 2014: South Asia's first Heat Action Plan, Ahmedabad (IJERPH)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https://pmc.ncbi.nlm.nih.gov/articles/PMC4024996/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&amp; Bell 2011: heatwave intensity vs duration and mortality (EHP)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https://pubmed.ncbi.nlm.nih.gov/21084239/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et al. 2019: role of humidity in heat mortality (EHP)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https://ehp.niehs.nih.gov/doi/full/10.1289/EHP5430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heat and heatwave mortality, 2023 (EHP)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https://ehp.niehs.nih.gov/doi/full/10.1289/EHP13206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Vellingiri et al. 2020: cool roofs in Ahmedabad slums (IJOEM)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https://pubmed.ncbi.nlm.nih.gov/32435111/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46177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75488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48646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references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5212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forecast &amp; ensemble APIs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https://open-meteo.com/en/docs/ensemble-api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ACGIH heat-stress work/rest limits (via CCOHS)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https://www.ccohs.ca/oshanswers/phys_agents/heat/heat_control.html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documentation</a:t>
            </a:r>
            <a:br/>
            <a:r>
              <a:rPr lang="en-US" sz="85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https://fastapi.tiangolo.com/</a:t>
            </a:r>
            <a:endParaRPr lang="en-US" sz="1000" dirty="0"/>
          </a:p>
        </p:txBody>
      </p:sp>
      <p:pic>
        <p:nvPicPr>
          <p:cNvPr id="25" name="Google Shape;133;p25">
            <a:extLst>
              <a:ext uri="{FF2B5EF4-FFF2-40B4-BE49-F238E27FC236}">
                <a16:creationId xmlns:a16="http://schemas.microsoft.com/office/drawing/2014/main" id="{55B83F3A-A3FF-A0AF-E3FA-7C780D8D142D}"/>
              </a:ext>
            </a:extLst>
          </p:cNvPr>
          <p:cNvPicPr preferRelativeResize="0"/>
          <p:nvPr/>
        </p:nvPicPr>
        <p:blipFill rotWithShape="1">
          <a:blip r:embed="rId17">
            <a:alphaModFix amt="85000"/>
          </a:blip>
          <a:srcRect/>
          <a:stretch/>
        </p:blipFill>
        <p:spPr>
          <a:xfrm>
            <a:off x="10461328" y="98089"/>
            <a:ext cx="1595643" cy="75343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44;p26" descr="Your startup LOGO">
            <a:extLst>
              <a:ext uri="{FF2B5EF4-FFF2-40B4-BE49-F238E27FC236}">
                <a16:creationId xmlns:a16="http://schemas.microsoft.com/office/drawing/2014/main" id="{D1BE4CA9-C47A-37CA-04E1-A2D17318F82E}"/>
              </a:ext>
            </a:extLst>
          </p:cNvPr>
          <p:cNvSpPr/>
          <p:nvPr/>
        </p:nvSpPr>
        <p:spPr>
          <a:xfrm>
            <a:off x="324850" y="196341"/>
            <a:ext cx="1051084" cy="41100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1489</Words>
  <Application>Microsoft Office PowerPoint</Application>
  <PresentationFormat>Widescreen</PresentationFormat>
  <Paragraphs>213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Garamond</vt:lpstr>
      <vt:lpstr>Oswald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Heat-Health Early Warning Platform — SIH 2026 PS 26083</dc:title>
  <dc:subject>PptxGenJS Presentation</dc:subject>
  <dc:creator>PptxGenJS</dc:creator>
  <cp:lastModifiedBy>JANHAVI Tupe</cp:lastModifiedBy>
  <cp:revision>3</cp:revision>
  <dcterms:created xsi:type="dcterms:W3CDTF">2026-09-28T13:14:54Z</dcterms:created>
  <dcterms:modified xsi:type="dcterms:W3CDTF">2026-09-28T16:04:48Z</dcterms:modified>
</cp:coreProperties>
</file>